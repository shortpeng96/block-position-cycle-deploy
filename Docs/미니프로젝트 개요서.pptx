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4CB316-995E-44C7-A654-8259A94B7BB1}">
  <a:tblStyle styleId="{B34CB316-995E-44C7-A654-8259A94B7BB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5e126bc9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5e126bc9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6dabb44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6dabb44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6d8db1fd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6d8db1fd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6d8db1fd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6d8db1fd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d8db1fd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d8db1fd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6d8db1fd8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6d8db1fd8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6d8db1fd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6d8db1fd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6d8db1fd8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6d8db1fd8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6d8db1fd8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6d8db1fd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707b54d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707b54d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rive.google.com/drive/folders/1KVl3GC7UyM2i9ylG6-sC2vqh7ORx8HZU?usp=drive_link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미니프로젝트 실습평가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809575"/>
            <a:ext cx="8520600" cy="4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500">
                <a:solidFill>
                  <a:schemeClr val="dk1"/>
                </a:solidFill>
              </a:rPr>
              <a:t>머신러닝 회귀 예측 프로젝트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일정 : </a:t>
            </a:r>
            <a:r>
              <a:rPr lang="ko" sz="1500">
                <a:solidFill>
                  <a:schemeClr val="dk1"/>
                </a:solidFill>
              </a:rPr>
              <a:t>2026.08.12 ~ 2026.08.20 (5일)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진행형태 : </a:t>
            </a:r>
            <a:r>
              <a:rPr lang="ko" sz="1500">
                <a:solidFill>
                  <a:schemeClr val="dk1"/>
                </a:solidFill>
              </a:rPr>
              <a:t>개인프로젝트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주제 : </a:t>
            </a:r>
            <a:r>
              <a:rPr lang="ko" sz="1500">
                <a:solidFill>
                  <a:schemeClr val="dk1"/>
                </a:solidFill>
              </a:rPr>
              <a:t>자유주제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주요목표 : </a:t>
            </a:r>
            <a:r>
              <a:rPr lang="ko" sz="1500">
                <a:solidFill>
                  <a:schemeClr val="dk1"/>
                </a:solidFill>
              </a:rPr>
              <a:t>실제 데이터를 활용하여 회귀 예측 모델을 구축하고 성능을 개선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500">
                <a:solidFill>
                  <a:schemeClr val="dk1"/>
                </a:solidFill>
              </a:rPr>
              <a:t>프로젝트 목표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300">
                <a:solidFill>
                  <a:schemeClr val="dk1"/>
                </a:solidFill>
              </a:rPr>
              <a:t>학습자가 관심 있는 분야의 데이터를 직접 선정하고, </a:t>
            </a:r>
            <a:r>
              <a:rPr b="1" lang="ko" sz="1300">
                <a:solidFill>
                  <a:schemeClr val="dk1"/>
                </a:solidFill>
              </a:rPr>
              <a:t>데이터 수집부터 전처리, 탐색적 데이터 분석(EDA), 머신러닝 회귀 모델 구축, 성능 평가 및 개선</a:t>
            </a:r>
            <a:r>
              <a:rPr lang="ko" sz="1300">
                <a:solidFill>
                  <a:schemeClr val="dk1"/>
                </a:solidFill>
              </a:rPr>
              <a:t>까지 데이터 분석 프로젝트의 전체 과정을 수행한다.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특히 단순히 높은 정확도의 모델을 만드는 것보다 </a:t>
            </a:r>
            <a:r>
              <a:rPr b="1" lang="ko" sz="1300">
                <a:solidFill>
                  <a:schemeClr val="dk1"/>
                </a:solidFill>
              </a:rPr>
              <a:t>데이터의 특성을 이해하고 적절한 전처리와 모델을 선택하여 예측 성능을 개선하는 과정</a:t>
            </a:r>
            <a:r>
              <a:rPr lang="ko" sz="1300">
                <a:solidFill>
                  <a:schemeClr val="dk1"/>
                </a:solidFill>
              </a:rPr>
              <a:t>에 중점을 둔다.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11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 </a:t>
            </a:r>
            <a:r>
              <a:rPr lang="ko"/>
              <a:t>프로젝트 개요</a:t>
            </a:r>
            <a:r>
              <a:rPr lang="ko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809575"/>
            <a:ext cx="8520600" cy="4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주제 추천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11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 프로젝트 개요 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625" y="901875"/>
            <a:ext cx="3735375" cy="4167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809575"/>
            <a:ext cx="8520600" cy="40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전체 프로세스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데이터 수집 및 프로젝트 기획 </a:t>
            </a:r>
            <a:r>
              <a:rPr lang="ko" sz="1500">
                <a:solidFill>
                  <a:schemeClr val="dk1"/>
                </a:solidFill>
              </a:rPr>
              <a:t> → 데이터 전처리 → 데이터 분석 및 EDA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→ 머신러닝 회귀 모델 구축 및 평가 → 모델 성능 향상 → 최종 결과 정리 및 대시보드 작성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세부 프로세스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1. 데이터 수집 및 프로젝트 기획 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주요 내용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자유 주제 선정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예측 대상(Target) 정의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데이터 수집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데이터 구조 및 변수 확인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분석 목적 및 가설 설정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11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프로젝트 진행 단계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809575"/>
            <a:ext cx="8520600" cy="40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세부 프로세스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2. </a:t>
            </a:r>
            <a:r>
              <a:rPr b="1" lang="ko" sz="1500">
                <a:solidFill>
                  <a:schemeClr val="dk1"/>
                </a:solidFill>
              </a:rPr>
              <a:t>데이터 전처리 </a:t>
            </a:r>
            <a:r>
              <a:rPr b="1" lang="ko" sz="1500">
                <a:solidFill>
                  <a:schemeClr val="dk1"/>
                </a:solidFill>
              </a:rPr>
              <a:t> 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주요 내용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결측치 확인 및 처리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이상치 확인 및 처리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중복 데이터 제거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데이터 타입 변환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범주형 데이터 처리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Feature Selection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Encoding, Scaling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학습/테스트 데이터 분리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11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프로젝트 진행 단계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809575"/>
            <a:ext cx="8520600" cy="40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세부 프로세스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3. </a:t>
            </a:r>
            <a:r>
              <a:rPr b="1" lang="ko" sz="1500">
                <a:solidFill>
                  <a:schemeClr val="dk1"/>
                </a:solidFill>
              </a:rPr>
              <a:t>데이터 분석 및 EDA </a:t>
            </a:r>
            <a:r>
              <a:rPr b="1" lang="ko" sz="1500">
                <a:solidFill>
                  <a:schemeClr val="dk1"/>
                </a:solidFill>
              </a:rPr>
              <a:t>  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주요 내용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데이터의 기초 통계 분석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Target 변수 분포 확인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Feature별 분포 확인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Feature와 Target의 관계 분석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상관관계 분석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시각화를 통한 데이터 특성 파악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분석 시 확인할 사항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어떤 Feature가 Target과 관계가 높은가?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Feature 간 상관관계가 높은 변수는 없는가?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이상치가 존재하는가?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데이터 분포가 한쪽으로 치우쳐 있는가?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회귀모델 학습에 적합하지 않은 Feature는 없는가?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11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프로젝트 진행 단계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809575"/>
            <a:ext cx="8520600" cy="40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세부 프로세스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4. 머신러닝 회귀 모델 구축 및 평가    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주요 내용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회귀 알고리즘을 활용하여 예측 모델을 구축한다.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회귀모델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Linear Regression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Ridge / Lasso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Random Forest Regressor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등등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평가 지표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MAE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MSE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RMSE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R²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11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프로젝트 진행 단계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809575"/>
            <a:ext cx="8520600" cy="40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세부 프로세스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5</a:t>
            </a:r>
            <a:r>
              <a:rPr b="1" lang="ko" sz="1500">
                <a:solidFill>
                  <a:schemeClr val="dk1"/>
                </a:solidFill>
              </a:rPr>
              <a:t>. 모델 성능 향상 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주요 내용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기존 모델의 문제점을 분석하고 예측 성능을 개선한다.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성능 향상 방법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Feature 추가/제거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이상치 재처리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데이터 전처리 방법 변경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모델 변경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Hyperparameter 조정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11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프로젝트 진행 단계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809575"/>
            <a:ext cx="8520600" cy="40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세부 프로세스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6. </a:t>
            </a:r>
            <a:r>
              <a:rPr b="1" lang="ko" sz="1500">
                <a:solidFill>
                  <a:schemeClr val="dk1"/>
                </a:solidFill>
              </a:rPr>
              <a:t>최종 결과 정리 및 결과보고서 작성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주요 내용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프로젝트 결과를 문서화한다.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11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프로젝트 진행 단계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809575"/>
            <a:ext cx="8520600" cy="40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제출링크 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https://drive.google.com/drive/folders/1KVl3GC7UyM2i9ylG6-sC2vqh7ORx8HZU?usp=drive_link</a:t>
            </a:r>
            <a:r>
              <a:rPr lang="ko" sz="1500"/>
              <a:t> 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발표보고서(PPT)와 시연(구동) 영상을 담은 폴더를 압축하여 본인 이름.zip 파일로 압축하여 링크에 업로드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영상은 PPT에 넣을 필요 X, 별도로 제출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PPT의 내용은 예시 결과 보고서를 따라 작성할 것 (디자인은 자유)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 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11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3. 프로젝트 </a:t>
            </a:r>
            <a:r>
              <a:rPr lang="ko"/>
              <a:t>제출물</a:t>
            </a:r>
            <a:r>
              <a:rPr lang="ko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11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4. 평가 기준 </a:t>
            </a:r>
            <a:endParaRPr/>
          </a:p>
        </p:txBody>
      </p:sp>
      <p:graphicFrame>
        <p:nvGraphicFramePr>
          <p:cNvPr id="115" name="Google Shape;115;p23"/>
          <p:cNvGraphicFramePr/>
          <p:nvPr/>
        </p:nvGraphicFramePr>
        <p:xfrm>
          <a:off x="161000" y="76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{B34CB316-995E-44C7-A654-8259A94B7BB1}</a:tableStyleId>
              </a:tblPr>
              <a:tblGrid>
                <a:gridCol w="1017100"/>
                <a:gridCol w="412325"/>
                <a:gridCol w="2869625"/>
                <a:gridCol w="2261450"/>
                <a:gridCol w="2261450"/>
              </a:tblGrid>
              <a:tr h="211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평가 영역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배점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A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B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C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2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프로젝트 기획 및 주제 선정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15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프로젝트 목적과 문제정의가 명확하고, </a:t>
                      </a:r>
                      <a:r>
                        <a:rPr b="1" lang="ko" sz="800"/>
                        <a:t>주제 선정 배경·필요성</a:t>
                      </a:r>
                      <a:r>
                        <a:rPr lang="ko" sz="800"/>
                        <a:t>·진행 일정·구체적인 실행계획을 논리적으로 제시함. 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프로젝트 목적과 주제 선정 배경을 설명하고 기본적인 진행계획을 제시함. 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프로젝트 목적이나 선정 배경이 불명확하거나 실행계획 내용이 미흡함.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데이터 수집 및 전처리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20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프로젝트 목적에 적합한 데이터를 선정하고 </a:t>
                      </a:r>
                      <a:r>
                        <a:rPr b="1" lang="ko" sz="800"/>
                        <a:t>변수 의미</a:t>
                      </a:r>
                      <a:r>
                        <a:rPr lang="ko" sz="800"/>
                        <a:t>를</a:t>
                      </a:r>
                      <a:r>
                        <a:rPr lang="ko" sz="800"/>
                        <a:t> 명확히 설명함. 결측치·이상치·중복·데이터 타입 등을 </a:t>
                      </a:r>
                      <a:r>
                        <a:rPr b="1" lang="ko" sz="800"/>
                        <a:t>적절히 처리</a:t>
                      </a:r>
                      <a:r>
                        <a:rPr lang="ko" sz="800"/>
                        <a:t>하고 </a:t>
                      </a:r>
                      <a:r>
                        <a:rPr b="1" lang="ko" sz="800"/>
                        <a:t>처리 기준과 이유를 설명함.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적절한 데이터를 수집하고 주요 변수에 대한 설명이 가능함. 기본적인 결측치 및 데이터 타입 처리를 수행함.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데이터 선정 또는 출처 설명이 부족하고, 전처리가 미흡하거나 처리 과정 및 이유에 대한 설명이 부족함.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데이터 분석 및 머신러닝 모델 구축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25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다양한 EDA 및 통계분석을 통해 </a:t>
                      </a:r>
                      <a:r>
                        <a:rPr b="1" lang="ko" sz="800"/>
                        <a:t>의미 있는 인사이트를 도출</a:t>
                      </a:r>
                      <a:r>
                        <a:rPr lang="ko" sz="800"/>
                        <a:t>하고, 2개 이상의 적절한 머신러닝 모델을 구축하여 비교함. 프로젝트 목적에 적합한 Feature Engineering 또는 변수 선정 과정을 수행함.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기본적인 통계분석 및 시각화를 수행하고 1개 이상의 머신러닝 모델을 구축하여 예측을 수행함.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분석 및 시각화가 부족하거나 인사이트 도출이 미흡하며, 모델 구축 또는 예측 과정이 불충분함.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모델 평가 및 성능 개선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20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MAE, RMSE, R² 등 적절한 평가 지표를 활용하여 모델 성능을 </a:t>
                      </a:r>
                      <a:r>
                        <a:rPr b="1" lang="ko" sz="800"/>
                        <a:t>비교·해석</a:t>
                      </a:r>
                      <a:r>
                        <a:rPr lang="ko" sz="800"/>
                        <a:t>하고, 모델 변경·하이퍼파라미터 튜닝 </a:t>
                      </a:r>
                      <a:r>
                        <a:rPr lang="ko" sz="800"/>
                        <a:t>변수 선정</a:t>
                      </a:r>
                      <a:r>
                        <a:rPr lang="ko" sz="800"/>
                        <a:t> 등 </a:t>
                      </a:r>
                      <a:r>
                        <a:rPr b="1" lang="ko" sz="800"/>
                        <a:t>체계적인 성능 개선 과정과 결과를 제시함.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주요 평가 지표를 계산하고 모델 성능을 기본적으로 비교·해석함. 하나 이상의 성능 개선 방법을 적용함.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평가 지표의 활용 또는 결과 해석이 부족하며, 성능 개선 과정이나 결과가 불명확함.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프로젝트 구현 및 결과보고서 구성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10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프로젝트 구현 내용, 컨셉, 개발환경 및 활용 장비·재료, 프로젝트 구조를 </a:t>
                      </a:r>
                      <a:r>
                        <a:rPr b="1" lang="ko" sz="800"/>
                        <a:t>일관된 흐름으로 구체적으로 설명</a:t>
                      </a:r>
                      <a:r>
                        <a:rPr lang="ko" sz="800"/>
                        <a:t>하고, 훈련내용과 프로젝트의 연관성을 명확히 제시함. </a:t>
                      </a:r>
                      <a:r>
                        <a:rPr b="1" lang="ko" sz="800"/>
                        <a:t>PPT의 필수 항목이 모두 포함</a:t>
                      </a:r>
                      <a:r>
                        <a:rPr lang="ko" sz="800"/>
                        <a:t>되어 있으며 내용 전달이 명확함.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프로젝트 구현 내용과 개발환경 및 프로젝트 구조를 기본적으로 설명하며, 대부분의 필수 항목을 포함함.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구현 내용, 개발환경, 프로젝트 구조 또는 훈련내용과의 연관성 설명이 부족하며 필수 항목이 일부 누락됨.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활용방안 및 기대효과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10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산출물의 활용방안을 구체적으로 제시하고 </a:t>
                      </a:r>
                      <a:r>
                        <a:rPr b="1" lang="ko" sz="800"/>
                        <a:t>실제 비즈니스/업무 적용 가능성, 기대효과 및 확장 가능성</a:t>
                      </a:r>
                      <a:r>
                        <a:rPr lang="ko" sz="800"/>
                        <a:t>을 제시함. 프로젝트 결과가 실제 문제 해결에 어떻게 기여하는지 명확함.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산출물의 기본적인 활용방안과 기대효과를 제시하고 실무 활용 가능성을 설명함.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활용방안이나 기대효과가 추상적이며 실제 업무 적용 가능성에 대한 설명이 부족함.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